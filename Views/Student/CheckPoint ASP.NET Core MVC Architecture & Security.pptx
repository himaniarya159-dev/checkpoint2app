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Fira Code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22" Type="http://schemas.openxmlformats.org/officeDocument/2006/relationships/font" Target="fonts/FiraCode-bold.fntdata"/><Relationship Id="rId10" Type="http://schemas.openxmlformats.org/officeDocument/2006/relationships/slide" Target="slides/slide5.xml"/><Relationship Id="rId21" Type="http://schemas.openxmlformats.org/officeDocument/2006/relationships/font" Target="fonts/FiraCod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29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8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66531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6075" y="466531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4450" y="466531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09600" y="2002184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CHECKPOINT ASP.NET CORE WEB APPLICATION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2345084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MVC Architecture, Cookie Security &amp; Directory Operations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3712815"/>
            <a:ext cx="723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comprehensive breakdown of multi-layer web architecture, EF Core database management, Cookie Authentication, and full CRUD workflows.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23925" y="4665315"/>
            <a:ext cx="20716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ASP.NET Core 10 MVC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171825" y="4665315"/>
            <a:ext cx="20597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Cookie Authentication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391150" y="4665315"/>
            <a:ext cx="15359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EF Core &amp; SQLite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609600" y="2692896"/>
            <a:ext cx="2571750" cy="2472332"/>
          </a:xfrm>
          <a:prstGeom prst="roundRect">
            <a:avLst>
              <a:gd fmla="val 46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409950" y="2692896"/>
            <a:ext cx="2571750" cy="2472332"/>
          </a:xfrm>
          <a:prstGeom prst="roundRect">
            <a:avLst>
              <a:gd fmla="val 46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210300" y="2692896"/>
            <a:ext cx="2571750" cy="2472332"/>
          </a:xfrm>
          <a:prstGeom prst="roundRect">
            <a:avLst>
              <a:gd fmla="val 46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9010650" y="2692896"/>
            <a:ext cx="2571750" cy="2472332"/>
          </a:xfrm>
          <a:prstGeom prst="roundRect">
            <a:avLst>
              <a:gd fmla="val 46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00722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4275" y="300722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300722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4975" y="300722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9175" y="3131046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62387" y="3131046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2737" y="3131046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48800" y="3131046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Technology Stack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23925" y="3654921"/>
            <a:ext cx="25503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ASP.NET Core MVC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23925" y="3997821"/>
            <a:ext cx="2038350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Clean separation of Concerns with Models, Razor Views, and Controllers.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724275" y="3654921"/>
            <a:ext cx="25503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EF Core &amp; SQLite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3724275" y="3997821"/>
            <a:ext cx="20383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ORM database mapping with LINQ query execution.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24625" y="3654921"/>
            <a:ext cx="25503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Cookie Auth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24625" y="3997821"/>
            <a:ext cx="20383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Stateful session security with Encrypted Claims Principal.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324975" y="3654921"/>
            <a:ext cx="25503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Bootstrap 5 UI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324975" y="3997821"/>
            <a:ext cx="20383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Responsive layout forms, alerts, and table styles.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609600" y="2409825"/>
            <a:ext cx="5095875" cy="981075"/>
          </a:xfrm>
          <a:prstGeom prst="roundRect">
            <a:avLst>
              <a:gd fmla="val 97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09600" y="3581400"/>
            <a:ext cx="5095875" cy="800100"/>
          </a:xfrm>
          <a:prstGeom prst="roundRect">
            <a:avLst>
              <a:gd fmla="val 119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09600" y="4572000"/>
            <a:ext cx="5095875" cy="800100"/>
          </a:xfrm>
          <a:prstGeom prst="roundRect">
            <a:avLst>
              <a:gd fmla="val 119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09600" y="2409825"/>
            <a:ext cx="38100" cy="981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09600" y="3581400"/>
            <a:ext cx="38100" cy="800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9600" y="4572000"/>
            <a:ext cx="38100" cy="800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2675" y="2081212"/>
            <a:ext cx="54197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243137"/>
            <a:ext cx="5095875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DESIGN PATTERN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Model-View-Controller Layering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8200" y="2600325"/>
            <a:ext cx="61382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Models (Data Structure)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8200" y="2838450"/>
            <a:ext cx="47720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Entity definitions for User credentials and Student directory attributes.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8200" y="3771900"/>
            <a:ext cx="61382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Views (Presentation)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38200" y="4010025"/>
            <a:ext cx="58459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Dynamic Razor templates (.cshtml) rendering responsive UI controls.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38200" y="4762500"/>
            <a:ext cx="61382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Controllers (Application Logic)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38200" y="5000625"/>
            <a:ext cx="58459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HTTP request handlers directing data processing and view routing.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/>
          <p:nvPr/>
        </p:nvSpPr>
        <p:spPr>
          <a:xfrm>
            <a:off x="609600" y="2947987"/>
            <a:ext cx="3505200" cy="1962150"/>
          </a:xfrm>
          <a:prstGeom prst="roundRect">
            <a:avLst>
              <a:gd fmla="val 582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343400" y="2947987"/>
            <a:ext cx="3505200" cy="1962150"/>
          </a:xfrm>
          <a:prstGeom prst="roundRect">
            <a:avLst>
              <a:gd fmla="val 582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8077200" y="2947987"/>
            <a:ext cx="3505200" cy="1962150"/>
          </a:xfrm>
          <a:prstGeom prst="roundRect">
            <a:avLst>
              <a:gd fmla="val 582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85825" y="4081462"/>
            <a:ext cx="2952750" cy="552450"/>
          </a:xfrm>
          <a:prstGeom prst="roundRect">
            <a:avLst>
              <a:gd fmla="val 1034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619625" y="4081462"/>
            <a:ext cx="2952750" cy="390525"/>
          </a:xfrm>
          <a:prstGeom prst="roundRect">
            <a:avLst>
              <a:gd fmla="val 1463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8353425" y="4081462"/>
            <a:ext cx="2952750" cy="390525"/>
          </a:xfrm>
          <a:prstGeom prst="roundRect">
            <a:avLst>
              <a:gd fmla="val 1463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23373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23373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233737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PERSISTENCE LAYER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Models &amp; Entity Framework Core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85825" y="360521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Stores registered account profile and login credentials.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000125" y="4195762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EmailId, Password, Address, ContactNo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619625" y="360521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Stores directory record details for academic tracking.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733925" y="4195762"/>
            <a:ext cx="2819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FirstName, LastName, Email, Course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353425" y="3605212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Manages SQLite database connections and migrations.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467725" y="4195762"/>
            <a:ext cx="2819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DbSet, DbSet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266825" y="3224212"/>
            <a:ext cx="13601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User Entity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5000625" y="3224212"/>
            <a:ext cx="17002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Student Entity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648700" y="3224212"/>
            <a:ext cx="26878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ApplicationDbContext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/>
          <p:nvPr/>
        </p:nvSpPr>
        <p:spPr>
          <a:xfrm>
            <a:off x="6486525" y="2500312"/>
            <a:ext cx="5095875" cy="800100"/>
          </a:xfrm>
          <a:prstGeom prst="roundRect">
            <a:avLst>
              <a:gd fmla="val 119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486525" y="3490912"/>
            <a:ext cx="5095875" cy="800100"/>
          </a:xfrm>
          <a:prstGeom prst="roundRect">
            <a:avLst>
              <a:gd fmla="val 119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486525" y="4481512"/>
            <a:ext cx="5095875" cy="800100"/>
          </a:xfrm>
          <a:prstGeom prst="roundRect">
            <a:avLst>
              <a:gd fmla="val 119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486525" y="2500312"/>
            <a:ext cx="38100" cy="800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486525" y="3490912"/>
            <a:ext cx="38100" cy="800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486525" y="4481512"/>
            <a:ext cx="38100" cy="800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81212"/>
            <a:ext cx="54197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43137"/>
            <a:ext cx="5095875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AUTHENTICATION ARCHITECTURE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Cookie-Based Security Pipeline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715125" y="2690812"/>
            <a:ext cx="5476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Claims-Based Identity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715125" y="2928937"/>
            <a:ext cx="5476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Stores User ID and Email inside secure ClaimsPrincipal payload.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715125" y="3681412"/>
            <a:ext cx="5476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Encrypted Cookie Storage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715125" y="3919537"/>
            <a:ext cx="5476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Issues HttpOnly encrypted session cookies upon successful sign-in.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715125" y="4672012"/>
            <a:ext cx="5476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[Authorize] Attribute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715125" y="4910137"/>
            <a:ext cx="5476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Protects StudentController routes from unauthenticated access.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/>
          <p:nvPr/>
        </p:nvSpPr>
        <p:spPr>
          <a:xfrm>
            <a:off x="609600" y="2781300"/>
            <a:ext cx="3505200" cy="2295525"/>
          </a:xfrm>
          <a:prstGeom prst="roundRect">
            <a:avLst>
              <a:gd fmla="val 497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4343400" y="2781300"/>
            <a:ext cx="3505200" cy="2295525"/>
          </a:xfrm>
          <a:prstGeom prst="roundRect">
            <a:avLst>
              <a:gd fmla="val 497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8077200" y="2781300"/>
            <a:ext cx="3505200" cy="2295525"/>
          </a:xfrm>
          <a:prstGeom prst="roundRect">
            <a:avLst>
              <a:gd fmla="val 497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0" y="309562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9300" y="309562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63100" y="309562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47900" y="32480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95987" y="32480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29787" y="32480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APPLICATION SECURITY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Defense Mechanisms &amp; Validation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474464" y="3819525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CSRF Protection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564356" y="4162425"/>
            <a:ext cx="359568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[ValidateAntiForgeryToken] defends POST endpoints against cross-site forged requests.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4208264" y="3819525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 Validation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4298156" y="4162425"/>
            <a:ext cx="359568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DataAnnotations like [Required] and [EmailAddress] ensure server-side data integrity.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7942064" y="3819525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Client Scripts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8031956" y="4162425"/>
            <a:ext cx="359568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jQuery Unobtrusive validation provides immediate UI feedback without page reloads.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609600" y="3305175"/>
            <a:ext cx="2436018" cy="1323975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3455193" y="3305175"/>
            <a:ext cx="2436018" cy="1323975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6300787" y="3305175"/>
            <a:ext cx="2436018" cy="1323975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9146381" y="3305175"/>
            <a:ext cx="2436018" cy="1323975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8018" y="38814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3612" y="3881437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9206" y="3881437"/>
            <a:ext cx="1047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WORKFLOW DEMO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User Authentication Pipeline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847725" y="3543300"/>
            <a:ext cx="244971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01. Register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847725" y="3819525"/>
            <a:ext cx="257219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Create User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847725" y="4067175"/>
            <a:ext cx="20550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Submits account profile to database.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3693318" y="3543300"/>
            <a:ext cx="244971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02. Verify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3693318" y="3819525"/>
            <a:ext cx="257219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Login Post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3693318" y="4067175"/>
            <a:ext cx="20550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Checks email &amp; password in EF Core.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538912" y="3543300"/>
            <a:ext cx="244971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03. Authorize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538912" y="3819525"/>
            <a:ext cx="257219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Issue Cookie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6538912" y="4067175"/>
            <a:ext cx="20550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Signs in ClaimsPrincipal instance.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9384506" y="3543300"/>
            <a:ext cx="244971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04. Redirect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9384506" y="3819525"/>
            <a:ext cx="257219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Student Index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9384506" y="4067175"/>
            <a:ext cx="20550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Grants access to protected views.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/>
          <p:nvPr/>
        </p:nvSpPr>
        <p:spPr>
          <a:xfrm>
            <a:off x="609600" y="2919412"/>
            <a:ext cx="3505200" cy="2019300"/>
          </a:xfrm>
          <a:prstGeom prst="roundRect">
            <a:avLst>
              <a:gd fmla="val 56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343400" y="2919412"/>
            <a:ext cx="3505200" cy="2019300"/>
          </a:xfrm>
          <a:prstGeom prst="roundRect">
            <a:avLst>
              <a:gd fmla="val 56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8077200" y="2919412"/>
            <a:ext cx="3505200" cy="2019300"/>
          </a:xfrm>
          <a:prstGeom prst="roundRect">
            <a:avLst>
              <a:gd fmla="val 56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2337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32337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32337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33670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6787" y="33670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4875" y="33670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CORE FEATURE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Student Directory Query Engine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923925" y="3881437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Multi-Column Search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923925" y="4224337"/>
            <a:ext cx="2971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Filters dynamically across Name, Email, and Course major via LINQ.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4657725" y="3881437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Dynamic Sorting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4657725" y="4224337"/>
            <a:ext cx="2971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Toggles column sorts between ascending and descending order.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8391525" y="3881437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Bootstrap Table UI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391525" y="4224337"/>
            <a:ext cx="2971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Clean table layout with hover states and action buttons.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/>
          <p:nvPr/>
        </p:nvSpPr>
        <p:spPr>
          <a:xfrm>
            <a:off x="609600" y="3038475"/>
            <a:ext cx="5334000" cy="1704975"/>
          </a:xfrm>
          <a:prstGeom prst="roundRect">
            <a:avLst>
              <a:gd fmla="val 67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6248400" y="3038475"/>
            <a:ext cx="5334000" cy="1704975"/>
          </a:xfrm>
          <a:prstGeom prst="roundRect">
            <a:avLst>
              <a:gd fmla="val 67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6" name="Google Shape;2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3337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33337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DATA MANAGEMENT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CRUD Operations &amp; TempData Notifications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885825" y="3314700"/>
            <a:ext cx="6275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Controller Operations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524625" y="3314700"/>
            <a:ext cx="5667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User Alerts (TempData)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885825" y="3695700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Create: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Inserts valid Student entity to EF Core.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885825" y="3990975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Edit: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Fetches existing student record by ID and updates details.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885825" y="4286250"/>
            <a:ext cx="5976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Delete: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Removals safeguarded with confirmation prompts.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524625" y="3695700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 Banners: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Triggers dynamic alert popups upon saving.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524625" y="3990975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Error Banners: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Displays validation failure notifications.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6524625" y="4286250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Auto-Dismiss: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Dismissible Bootstrap alert components.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/>
          <p:nvPr/>
        </p:nvSpPr>
        <p:spPr>
          <a:xfrm>
            <a:off x="3762375" y="4208115"/>
            <a:ext cx="2257425" cy="514350"/>
          </a:xfrm>
          <a:prstGeom prst="roundRect">
            <a:avLst>
              <a:gd fmla="val 1481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6210300" y="4208115"/>
            <a:ext cx="2219325" cy="514350"/>
          </a:xfrm>
          <a:prstGeom prst="roundRect">
            <a:avLst>
              <a:gd fmla="val 1481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4905375" y="2135534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PROJECT COMPLETE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2001738" y="2478434"/>
            <a:ext cx="818852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Summary &amp; Live Demo Q&amp;A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1928812" y="3255615"/>
            <a:ext cx="8334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CheckPoint application demonstrates clean MVC separation, secure Cookie Authentication, robust input validation, and full CRUD capability.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3746896" y="4360515"/>
            <a:ext cx="228838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Repo: CheckPoint2App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6199584" y="4360515"/>
            <a:ext cx="224075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Ready for Presentation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8F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